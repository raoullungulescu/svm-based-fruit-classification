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76" r:id="rId3"/>
    <p:sldId id="257" r:id="rId4"/>
    <p:sldId id="260" r:id="rId5"/>
    <p:sldId id="261" r:id="rId6"/>
    <p:sldId id="263" r:id="rId7"/>
    <p:sldId id="258" r:id="rId8"/>
    <p:sldId id="259" r:id="rId9"/>
    <p:sldId id="277" r:id="rId10"/>
    <p:sldId id="278" r:id="rId11"/>
    <p:sldId id="265" r:id="rId12"/>
    <p:sldId id="264" r:id="rId13"/>
    <p:sldId id="266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08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183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25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70212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5189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4465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777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49200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9554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7353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3607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937F109-F706-4FA7-9259-6992296724D5}" type="datetimeFigureOut">
              <a:rPr lang="ro-RO" smtClean="0"/>
              <a:t>18.01.2024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24C7ECF-0A4B-48E1-9908-66A1B443CD99}" type="slidenum">
              <a:rPr lang="ro-RO" smtClean="0"/>
              <a:t>‹#›</a:t>
            </a:fld>
            <a:endParaRPr 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20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AEDB-7A74-1603-23C7-14B4F3862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Clasificator Binar cu SVM și Reducere Dimensiona</a:t>
            </a:r>
            <a:r>
              <a:rPr lang="ro-RO" dirty="0"/>
              <a:t>lă</a:t>
            </a:r>
            <a:r>
              <a:rPr lang="it-IT" dirty="0"/>
              <a:t> cu PCA</a:t>
            </a:r>
            <a:endParaRPr lang="ro-R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D15AE-87FD-B3C8-C277-2CD3E69CC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Vasile Ioan Teodor 323AC</a:t>
            </a:r>
          </a:p>
          <a:p>
            <a:r>
              <a:rPr lang="ro-RO" dirty="0" err="1"/>
              <a:t>Lungulescu</a:t>
            </a:r>
            <a:r>
              <a:rPr lang="ro-RO" dirty="0"/>
              <a:t> Raul Adrian 323AC</a:t>
            </a:r>
          </a:p>
        </p:txBody>
      </p:sp>
    </p:spTree>
    <p:extLst>
      <p:ext uri="{BB962C8B-B14F-4D97-AF65-F5344CB8AC3E}">
        <p14:creationId xmlns:p14="http://schemas.microsoft.com/office/powerpoint/2010/main" val="349885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2A1A-AF86-C064-B9B4-6C243C6B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Scopul aplicației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A99C7-EDCB-C198-9428-DBF1E106CC24}"/>
              </a:ext>
            </a:extLst>
          </p:cNvPr>
          <p:cNvSpPr txBox="1"/>
          <p:nvPr/>
        </p:nvSpPr>
        <p:spPr>
          <a:xfrm>
            <a:off x="989814" y="2026763"/>
            <a:ext cx="86349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o-RO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Clasificare cu SVM:</a:t>
            </a:r>
            <a:endParaRPr lang="ro-RO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o-RO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 este antrenat să distingă între </a:t>
            </a:r>
            <a:r>
              <a:rPr lang="ro-RO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doua soiuri de mere roșii </a:t>
            </a:r>
            <a:r>
              <a:rPr lang="ro-RO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bazându-se pe caracteristicile imaginilor.</a:t>
            </a:r>
          </a:p>
          <a:p>
            <a:pPr algn="l">
              <a:buFont typeface="+mj-lt"/>
              <a:buAutoNum type="arabicPeriod"/>
            </a:pPr>
            <a:r>
              <a:rPr lang="ro-RO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Reducerea Dimensiunilor cu PCA:</a:t>
            </a:r>
            <a:endParaRPr lang="ro-RO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o-RO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 aplică PCA pentru a evidenția și conserva variația semnificativă, transformând datele în componente principale.</a:t>
            </a:r>
          </a:p>
          <a:p>
            <a:pPr algn="l">
              <a:buFont typeface="+mj-lt"/>
              <a:buAutoNum type="arabicPeriod"/>
            </a:pPr>
            <a:r>
              <a:rPr lang="ro-RO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Vizualizarea Spațiului Redus:</a:t>
            </a:r>
            <a:endParaRPr lang="ro-RO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o-RO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Graficul rezultat din PCA oferă o perspectivă bidimensională a distribuției datelor reduse în spațiu.</a:t>
            </a:r>
          </a:p>
          <a:p>
            <a:pPr algn="l">
              <a:buFont typeface="+mj-lt"/>
              <a:buAutoNum type="arabicPeriod"/>
            </a:pPr>
            <a:r>
              <a:rPr lang="ro-RO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Reclasificare cu SVM după PCA:</a:t>
            </a:r>
            <a:endParaRPr lang="ro-RO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o-RO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 este reaplicat pe datele transformate prin PCA pentru a evalua diferențele și îmbunătățirile în performanța clasificării.</a:t>
            </a:r>
          </a:p>
          <a:p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28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4DB3-16ED-1A60-0530-493B4841A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86806" cy="1325563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Construirea</a:t>
            </a:r>
            <a:r>
              <a:rPr lang="en-GB" dirty="0"/>
              <a:t> </a:t>
            </a:r>
            <a:r>
              <a:rPr lang="en-GB" dirty="0" err="1"/>
              <a:t>vectorilor</a:t>
            </a:r>
            <a:r>
              <a:rPr lang="en-GB" dirty="0"/>
              <a:t> </a:t>
            </a:r>
            <a:r>
              <a:rPr lang="en-GB" dirty="0" err="1"/>
              <a:t>caracteristici</a:t>
            </a:r>
            <a:r>
              <a:rPr lang="en-GB" dirty="0"/>
              <a:t> ai </a:t>
            </a:r>
            <a:r>
              <a:rPr lang="en-GB" dirty="0" err="1"/>
              <a:t>imaginilor</a:t>
            </a:r>
            <a:endParaRPr lang="ro-RO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B23504-81D7-85D4-3703-EF043B9CE9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119" y="336142"/>
            <a:ext cx="4747603" cy="587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03B0B3-2F29-2A28-337F-6BF437806CFC}"/>
              </a:ext>
            </a:extLst>
          </p:cNvPr>
          <p:cNvSpPr txBox="1"/>
          <p:nvPr/>
        </p:nvSpPr>
        <p:spPr>
          <a:xfrm>
            <a:off x="372278" y="3086604"/>
            <a:ext cx="5368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Imagini de antrenare</a:t>
            </a:r>
            <a:r>
              <a:rPr lang="en-GB" dirty="0"/>
              <a:t>: 984,  492 din </a:t>
            </a:r>
            <a:r>
              <a:rPr lang="en-GB" dirty="0" err="1"/>
              <a:t>fiecare</a:t>
            </a:r>
            <a:r>
              <a:rPr lang="en-GB" dirty="0"/>
              <a:t> soi de mere </a:t>
            </a:r>
            <a:endParaRPr lang="ro-R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4DC3B-918D-B936-E634-58417BAEB016}"/>
              </a:ext>
            </a:extLst>
          </p:cNvPr>
          <p:cNvSpPr txBox="1"/>
          <p:nvPr/>
        </p:nvSpPr>
        <p:spPr>
          <a:xfrm>
            <a:off x="372278" y="3909594"/>
            <a:ext cx="499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Imagini</a:t>
            </a:r>
            <a:r>
              <a:rPr lang="en-GB" dirty="0"/>
              <a:t> de </a:t>
            </a:r>
            <a:r>
              <a:rPr lang="en-GB" dirty="0" err="1"/>
              <a:t>testare</a:t>
            </a:r>
            <a:r>
              <a:rPr lang="en-GB" dirty="0"/>
              <a:t>: 328, 164 din </a:t>
            </a:r>
            <a:r>
              <a:rPr lang="en-GB" dirty="0" err="1"/>
              <a:t>fiecare</a:t>
            </a:r>
            <a:r>
              <a:rPr lang="en-GB" dirty="0"/>
              <a:t> soi de mere</a:t>
            </a:r>
            <a:endParaRPr lang="ro-R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483FE-BCD1-2AE8-D458-D1CCE59520CC}"/>
              </a:ext>
            </a:extLst>
          </p:cNvPr>
          <p:cNvSpPr txBox="1"/>
          <p:nvPr/>
        </p:nvSpPr>
        <p:spPr>
          <a:xfrm>
            <a:off x="372278" y="1986615"/>
            <a:ext cx="572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Datele</a:t>
            </a:r>
            <a:r>
              <a:rPr lang="en-GB" dirty="0"/>
              <a:t> sunt </a:t>
            </a:r>
            <a:r>
              <a:rPr lang="ro-RO" dirty="0"/>
              <a:t>împărțite în date de antrenare si date de testare, în </a:t>
            </a:r>
            <a:r>
              <a:rPr lang="ro-RO" dirty="0" err="1"/>
              <a:t>proportii</a:t>
            </a:r>
            <a:r>
              <a:rPr lang="ro-RO" dirty="0"/>
              <a:t> de 75% cu 25%.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6B9D2F-C05D-7866-D51C-9E3A7A0F9162}"/>
              </a:ext>
            </a:extLst>
          </p:cNvPr>
          <p:cNvSpPr txBox="1"/>
          <p:nvPr/>
        </p:nvSpPr>
        <p:spPr>
          <a:xfrm>
            <a:off x="372277" y="4636136"/>
            <a:ext cx="4992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Fiecare imagine este convertită într-un vector de 100x100 pentru fiecare dimensiune RGB. Mai apoi este transformata într-un singur vector și este </a:t>
            </a:r>
            <a:r>
              <a:rPr lang="ro-RO" dirty="0" err="1"/>
              <a:t>scalat</a:t>
            </a:r>
            <a:r>
              <a:rPr lang="ro-RO" dirty="0"/>
              <a:t> prin scăderea mediei setului de date</a:t>
            </a:r>
          </a:p>
        </p:txBody>
      </p:sp>
    </p:spTree>
    <p:extLst>
      <p:ext uri="{BB962C8B-B14F-4D97-AF65-F5344CB8AC3E}">
        <p14:creationId xmlns:p14="http://schemas.microsoft.com/office/powerpoint/2010/main" val="1031925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485B-2FAE-77E7-4374-64EBA397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Afisarea</a:t>
            </a:r>
            <a:r>
              <a:rPr lang="ro-RO" dirty="0"/>
              <a:t> unor mere din primul soi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71CCD-07E3-93DA-B7B5-6078CC1C2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C4B6403-D9E1-499E-4560-44C6E58B2ED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9211" b="29211"/>
          <a:stretch>
            <a:fillRect/>
          </a:stretch>
        </p:blipFill>
        <p:spPr>
          <a:xfrm>
            <a:off x="0" y="0"/>
            <a:ext cx="121920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6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485B-2FAE-77E7-4374-64EBA397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Afisarea</a:t>
            </a:r>
            <a:r>
              <a:rPr lang="ro-RO" dirty="0"/>
              <a:t> unor mere din al doilea soi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CD59ECD-BB81-F299-BE1A-F2A9898C6E8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9211" b="29211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71CCD-07E3-93DA-B7B5-6078CC1C2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4648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F4D83-6049-B8D0-9AE9-DAFA6509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Algoritmi folosiți</a:t>
            </a:r>
            <a:r>
              <a:rPr lang="en-US" dirty="0"/>
              <a:t>:</a:t>
            </a:r>
            <a:endParaRPr lang="ro-R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173E1-D7C1-C09C-68EA-BA898336F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Principal component </a:t>
            </a:r>
            <a:r>
              <a:rPr lang="ro-RO" dirty="0" err="1"/>
              <a:t>analysis</a:t>
            </a:r>
            <a:r>
              <a:rPr lang="ro-RO" dirty="0"/>
              <a:t> (PCA)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789DE-CF6B-E8AD-125C-FF4969DBD5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PCA are ca scop principal identificarea și conservarea maximă a variației prezente în setul de date inițial.</a:t>
            </a:r>
          </a:p>
          <a:p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Prin transformarea datelor în componente principale, PCA reduce dimensiunea setului de date.</a:t>
            </a:r>
            <a:endParaRPr lang="ro-RO" dirty="0">
              <a:solidFill>
                <a:srgbClr val="374151"/>
              </a:solidFill>
              <a:latin typeface="Söhne"/>
            </a:endParaRPr>
          </a:p>
          <a:p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Scopul este de a comprima datele într-un set mai mic de caracteristici, numite componente principale, fără a pierde semnificația variației inițiale.</a:t>
            </a:r>
            <a:endParaRPr lang="ro-R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6B45E-5088-882E-28E8-FECDB4A78E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 err="1"/>
              <a:t>Support</a:t>
            </a:r>
            <a:r>
              <a:rPr lang="ro-RO" dirty="0"/>
              <a:t> vector </a:t>
            </a:r>
            <a:r>
              <a:rPr lang="ro-RO" dirty="0" err="1"/>
              <a:t>machines</a:t>
            </a:r>
            <a:r>
              <a:rPr lang="ro-RO" dirty="0"/>
              <a:t> (SVM)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CDCF6-307F-DEDA-93FA-84393501159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Metoda</a:t>
            </a:r>
            <a:r>
              <a:rPr lang="en-US" dirty="0"/>
              <a:t> de </a:t>
            </a:r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dirty="0" err="1"/>
              <a:t>binar</a:t>
            </a:r>
            <a:r>
              <a:rPr lang="ro-RO" dirty="0"/>
              <a:t>ă.</a:t>
            </a:r>
          </a:p>
          <a:p>
            <a:r>
              <a:rPr lang="ro-RO" dirty="0"/>
              <a:t>C</a:t>
            </a:r>
            <a:r>
              <a:rPr lang="es-ES" dirty="0" err="1"/>
              <a:t>aută</a:t>
            </a:r>
            <a:r>
              <a:rPr lang="es-ES" dirty="0"/>
              <a:t> </a:t>
            </a:r>
            <a:r>
              <a:rPr lang="es-ES" dirty="0" err="1"/>
              <a:t>să</a:t>
            </a:r>
            <a:r>
              <a:rPr lang="es-ES" dirty="0"/>
              <a:t> </a:t>
            </a:r>
            <a:r>
              <a:rPr lang="es-ES" dirty="0" err="1"/>
              <a:t>găsească</a:t>
            </a:r>
            <a:r>
              <a:rPr lang="es-ES" dirty="0"/>
              <a:t> un </a:t>
            </a:r>
            <a:r>
              <a:rPr lang="es-ES" dirty="0" err="1"/>
              <a:t>hiperplan</a:t>
            </a:r>
            <a:r>
              <a:rPr lang="es-ES" dirty="0"/>
              <a:t> </a:t>
            </a:r>
            <a:r>
              <a:rPr lang="es-ES" dirty="0" err="1"/>
              <a:t>optim</a:t>
            </a:r>
            <a:r>
              <a:rPr lang="es-ES" dirty="0"/>
              <a:t> </a:t>
            </a:r>
            <a:r>
              <a:rPr lang="es-ES" dirty="0" err="1"/>
              <a:t>pentru</a:t>
            </a:r>
            <a:r>
              <a:rPr lang="es-ES" dirty="0"/>
              <a:t> a separa </a:t>
            </a:r>
            <a:r>
              <a:rPr lang="es-ES" dirty="0" err="1"/>
              <a:t>două</a:t>
            </a:r>
            <a:r>
              <a:rPr lang="es-ES" dirty="0"/>
              <a:t> clase </a:t>
            </a:r>
            <a:r>
              <a:rPr lang="es-ES" dirty="0" err="1"/>
              <a:t>într</a:t>
            </a:r>
            <a:r>
              <a:rPr lang="es-ES" dirty="0"/>
              <a:t>-un </a:t>
            </a:r>
            <a:r>
              <a:rPr lang="es-ES" dirty="0" err="1"/>
              <a:t>spațiu</a:t>
            </a:r>
            <a:r>
              <a:rPr lang="es-ES" dirty="0"/>
              <a:t> multidimensional</a:t>
            </a:r>
            <a:r>
              <a:rPr lang="ro-RO" dirty="0"/>
              <a:t>.</a:t>
            </a:r>
          </a:p>
          <a:p>
            <a:r>
              <a:rPr lang="ro-RO" dirty="0"/>
              <a:t>Scopul este să maximizeze marginea dintre hiperplan și punctele cele mai apropiate ale claselor, numite vectori suport.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272ECBE-D281-CF1D-BCA6-5FD6AF417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5273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DACA7115-B555-1A90-19AC-F520B82C4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25273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53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30854F26-2FB8-405A-A644-C15DC1DD4231}"/>
              </a:ext>
            </a:extLst>
          </p:cNvPr>
          <p:cNvSpPr txBox="1"/>
          <p:nvPr/>
        </p:nvSpPr>
        <p:spPr>
          <a:xfrm>
            <a:off x="1363579" y="850232"/>
            <a:ext cx="6930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/>
              <a:t>Algoritmul</a:t>
            </a:r>
            <a:r>
              <a:rPr lang="en-US" sz="3000" dirty="0"/>
              <a:t> PCA </a:t>
            </a:r>
            <a:r>
              <a:rPr lang="en-US" sz="3000" dirty="0" err="1"/>
              <a:t>structurat</a:t>
            </a:r>
            <a:r>
              <a:rPr lang="en-US" sz="3000" dirty="0"/>
              <a:t> pe </a:t>
            </a:r>
            <a:r>
              <a:rPr lang="en-US" sz="3000" dirty="0" err="1"/>
              <a:t>pasi</a:t>
            </a:r>
            <a:r>
              <a:rPr lang="en-US" sz="3000" dirty="0"/>
              <a:t>:</a:t>
            </a:r>
          </a:p>
          <a:p>
            <a:endParaRPr lang="en-US" sz="3000" dirty="0"/>
          </a:p>
          <a:p>
            <a:endParaRPr lang="en-US" sz="3000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52F91C37-D457-4EB9-B02F-2677CAB00C93}"/>
              </a:ext>
            </a:extLst>
          </p:cNvPr>
          <p:cNvSpPr txBox="1"/>
          <p:nvPr/>
        </p:nvSpPr>
        <p:spPr>
          <a:xfrm>
            <a:off x="1363579" y="2085474"/>
            <a:ext cx="604787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Pasul 1: </a:t>
            </a:r>
            <a:r>
              <a:rPr lang="en-US" sz="2500" b="1" dirty="0" err="1"/>
              <a:t>Centrarea</a:t>
            </a:r>
            <a:r>
              <a:rPr lang="en-US" sz="2500" b="1" dirty="0"/>
              <a:t> </a:t>
            </a:r>
            <a:r>
              <a:rPr lang="en-US" sz="2500" b="1" dirty="0" err="1"/>
              <a:t>datelor</a:t>
            </a:r>
            <a:r>
              <a:rPr lang="en-US" sz="2500" b="1" dirty="0"/>
              <a:t>:</a:t>
            </a:r>
          </a:p>
          <a:p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calculează</a:t>
            </a:r>
            <a:r>
              <a:rPr lang="en-US" dirty="0"/>
              <a:t> media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caracteristică</a:t>
            </a:r>
            <a:r>
              <a:rPr lang="en-US" dirty="0"/>
              <a:t> (</a:t>
            </a:r>
            <a:r>
              <a:rPr lang="en-US" dirty="0" err="1"/>
              <a:t>coloană</a:t>
            </a:r>
            <a:r>
              <a:rPr lang="en-US" dirty="0"/>
              <a:t>) a </a:t>
            </a:r>
            <a:r>
              <a:rPr lang="en-US" dirty="0" err="1"/>
              <a:t>matricei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se </a:t>
            </a:r>
            <a:r>
              <a:rPr lang="en-US" dirty="0" err="1"/>
              <a:t>scade</a:t>
            </a:r>
            <a:r>
              <a:rPr lang="en-US" dirty="0"/>
              <a:t>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medie</a:t>
            </a:r>
            <a:r>
              <a:rPr lang="en-US" dirty="0"/>
              <a:t> din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corespunzătoare</a:t>
            </a:r>
            <a:r>
              <a:rPr lang="en-US" dirty="0"/>
              <a:t>.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centrate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jurul</a:t>
            </a:r>
            <a:r>
              <a:rPr lang="en-US" dirty="0"/>
              <a:t> </a:t>
            </a:r>
            <a:r>
              <a:rPr lang="en-US" dirty="0" err="1"/>
              <a:t>originii</a:t>
            </a:r>
            <a:r>
              <a:rPr lang="en-US" dirty="0"/>
              <a:t>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A6CF7CF9-D548-467F-AFC0-35A6D56A6E00}"/>
                  </a:ext>
                </a:extLst>
              </p:cNvPr>
              <p:cNvSpPr txBox="1"/>
              <p:nvPr/>
            </p:nvSpPr>
            <p:spPr>
              <a:xfrm>
                <a:off x="2191964" y="3702640"/>
                <a:ext cx="1213344" cy="535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A6CF7CF9-D548-467F-AFC0-35A6D56A6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964" y="3702640"/>
                <a:ext cx="1213344" cy="5354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tăText 4">
            <a:extLst>
              <a:ext uri="{FF2B5EF4-FFF2-40B4-BE49-F238E27FC236}">
                <a16:creationId xmlns:a16="http://schemas.microsoft.com/office/drawing/2014/main" id="{BA96F21F-108D-4D2A-B9E6-05CA88668363}"/>
              </a:ext>
            </a:extLst>
          </p:cNvPr>
          <p:cNvSpPr txBox="1"/>
          <p:nvPr/>
        </p:nvSpPr>
        <p:spPr>
          <a:xfrm>
            <a:off x="3675355" y="3683253"/>
            <a:ext cx="3231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unde</a:t>
            </a:r>
            <a:r>
              <a:rPr lang="en-US" dirty="0"/>
              <a:t> X – </a:t>
            </a:r>
            <a:r>
              <a:rPr lang="en-US" dirty="0" err="1"/>
              <a:t>matricea</a:t>
            </a:r>
            <a:r>
              <a:rPr lang="en-US" dirty="0"/>
              <a:t> </a:t>
            </a:r>
            <a:r>
              <a:rPr lang="en-US" dirty="0" err="1"/>
              <a:t>initiala</a:t>
            </a:r>
            <a:r>
              <a:rPr lang="en-US" dirty="0"/>
              <a:t> cu </a:t>
            </a:r>
            <a:r>
              <a:rPr lang="en-US" dirty="0" err="1"/>
              <a:t>setul</a:t>
            </a:r>
            <a:r>
              <a:rPr lang="en-US" dirty="0"/>
              <a:t> de date , μ – media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, </a:t>
            </a:r>
            <a:r>
              <a:rPr lang="el-GR" dirty="0"/>
              <a:t>σ</a:t>
            </a:r>
            <a:r>
              <a:rPr lang="en-US" dirty="0"/>
              <a:t> – </a:t>
            </a:r>
            <a:r>
              <a:rPr lang="en-US" dirty="0" err="1"/>
              <a:t>deviatia</a:t>
            </a:r>
            <a:r>
              <a:rPr lang="en-US" dirty="0"/>
              <a:t> standard a </a:t>
            </a:r>
            <a:r>
              <a:rPr lang="en-US" dirty="0" err="1"/>
              <a:t>datelor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0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30854F26-2FB8-405A-A644-C15DC1DD4231}"/>
              </a:ext>
            </a:extLst>
          </p:cNvPr>
          <p:cNvSpPr txBox="1"/>
          <p:nvPr/>
        </p:nvSpPr>
        <p:spPr>
          <a:xfrm>
            <a:off x="1363579" y="572194"/>
            <a:ext cx="6930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/>
              <a:t>Algoritmul</a:t>
            </a:r>
            <a:r>
              <a:rPr lang="en-US" sz="3000" b="1" dirty="0"/>
              <a:t> PCA </a:t>
            </a:r>
            <a:r>
              <a:rPr lang="en-US" sz="3000" b="1" dirty="0" err="1"/>
              <a:t>structurat</a:t>
            </a:r>
            <a:r>
              <a:rPr lang="en-US" sz="3000" b="1" dirty="0"/>
              <a:t> pe </a:t>
            </a:r>
            <a:r>
              <a:rPr lang="en-US" sz="3000" b="1" dirty="0" err="1"/>
              <a:t>pasi</a:t>
            </a:r>
            <a:r>
              <a:rPr lang="en-US" sz="3000" dirty="0"/>
              <a:t>:</a:t>
            </a:r>
          </a:p>
          <a:p>
            <a:endParaRPr lang="en-US" sz="3000" dirty="0"/>
          </a:p>
          <a:p>
            <a:endParaRPr lang="en-US" sz="3000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52F91C37-D457-4EB9-B02F-2677CAB00C93}"/>
              </a:ext>
            </a:extLst>
          </p:cNvPr>
          <p:cNvSpPr txBox="1"/>
          <p:nvPr/>
        </p:nvSpPr>
        <p:spPr>
          <a:xfrm>
            <a:off x="1363579" y="1726360"/>
            <a:ext cx="604787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Pasul </a:t>
            </a:r>
            <a:r>
              <a:rPr lang="en-US" sz="2500" b="1" dirty="0" err="1"/>
              <a:t>doi</a:t>
            </a:r>
            <a:r>
              <a:rPr lang="en-US" sz="2500" b="1" dirty="0"/>
              <a:t>: </a:t>
            </a:r>
            <a:r>
              <a:rPr lang="en-US" sz="2500" b="1" dirty="0" err="1"/>
              <a:t>Calculul</a:t>
            </a:r>
            <a:r>
              <a:rPr lang="en-US" sz="2500" b="1" dirty="0"/>
              <a:t> </a:t>
            </a:r>
            <a:r>
              <a:rPr lang="en-US" sz="2500" b="1" dirty="0" err="1"/>
              <a:t>matricei</a:t>
            </a:r>
            <a:r>
              <a:rPr lang="en-US" sz="2500" b="1" dirty="0"/>
              <a:t> de </a:t>
            </a:r>
            <a:r>
              <a:rPr lang="en-US" sz="2500" b="1" dirty="0" err="1"/>
              <a:t>covarianță</a:t>
            </a:r>
            <a:r>
              <a:rPr lang="en-US" sz="2500" b="1" dirty="0"/>
              <a:t>:</a:t>
            </a:r>
          </a:p>
          <a:p>
            <a:endParaRPr lang="en-US" sz="2500" dirty="0"/>
          </a:p>
          <a:p>
            <a:r>
              <a:rPr lang="en-US" dirty="0" err="1"/>
              <a:t>Matricea</a:t>
            </a:r>
            <a:r>
              <a:rPr lang="en-US" dirty="0"/>
              <a:t> de </a:t>
            </a:r>
            <a:r>
              <a:rPr lang="en-US" dirty="0" err="1"/>
              <a:t>covarianță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simetrică</a:t>
            </a:r>
            <a:r>
              <a:rPr lang="en-US" dirty="0"/>
              <a:t> care </a:t>
            </a:r>
            <a:r>
              <a:rPr lang="en-US" dirty="0" err="1"/>
              <a:t>furnizează</a:t>
            </a:r>
            <a:r>
              <a:rPr lang="en-US" dirty="0"/>
              <a:t> </a:t>
            </a:r>
            <a:r>
              <a:rPr lang="en-US" dirty="0" err="1"/>
              <a:t>informații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măsura</a:t>
            </a:r>
            <a:r>
              <a:rPr lang="en-US" dirty="0"/>
              <a:t> de </a:t>
            </a:r>
            <a:r>
              <a:rPr lang="en-US" dirty="0" err="1"/>
              <a:t>covarianță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variabilele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set de date.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A6CF7CF9-D548-467F-AFC0-35A6D56A6E00}"/>
                  </a:ext>
                </a:extLst>
              </p:cNvPr>
              <p:cNvSpPr txBox="1"/>
              <p:nvPr/>
            </p:nvSpPr>
            <p:spPr>
              <a:xfrm>
                <a:off x="1939087" y="3445197"/>
                <a:ext cx="3764954" cy="7564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A6CF7CF9-D548-467F-AFC0-35A6D56A6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087" y="3445197"/>
                <a:ext cx="3764954" cy="756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A1F40E7F-1F35-4A10-8B2F-A0EB07EEAFCC}"/>
                  </a:ext>
                </a:extLst>
              </p:cNvPr>
              <p:cNvSpPr txBox="1"/>
              <p:nvPr/>
            </p:nvSpPr>
            <p:spPr>
              <a:xfrm>
                <a:off x="6279549" y="3157524"/>
                <a:ext cx="267217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– </a:t>
                </a:r>
                <a:r>
                  <a:rPr lang="en-US" dirty="0" err="1"/>
                  <a:t>matricea</a:t>
                </a:r>
                <a:r>
                  <a:rPr lang="en-US" dirty="0"/>
                  <a:t> de </a:t>
                </a:r>
                <a:r>
                  <a:rPr lang="en-US" dirty="0" err="1"/>
                  <a:t>covarianta</a:t>
                </a:r>
                <a:endParaRPr lang="en-US" dirty="0"/>
              </a:p>
              <a:p>
                <a:r>
                  <a:rPr lang="en-US" dirty="0"/>
                  <a:t>Xi - </a:t>
                </a:r>
                <a:r>
                  <a:rPr lang="en-US" dirty="0" err="1"/>
                  <a:t>reprezinta</a:t>
                </a:r>
                <a:r>
                  <a:rPr lang="en-US" dirty="0"/>
                  <a:t> </a:t>
                </a:r>
                <a:r>
                  <a:rPr lang="en-US" dirty="0" err="1"/>
                  <a:t>fiecare</a:t>
                </a:r>
                <a:r>
                  <a:rPr lang="en-US" dirty="0"/>
                  <a:t> </a:t>
                </a:r>
                <a:r>
                  <a:rPr lang="en-US" dirty="0" err="1"/>
                  <a:t>esantion</a:t>
                </a:r>
                <a:r>
                  <a:rPr lang="en-US" dirty="0"/>
                  <a:t> din </a:t>
                </a:r>
                <a:r>
                  <a:rPr lang="en-US" dirty="0" err="1"/>
                  <a:t>setul</a:t>
                </a:r>
                <a:r>
                  <a:rPr lang="en-US" dirty="0"/>
                  <a:t> de date</a:t>
                </a:r>
              </a:p>
              <a:p>
                <a:r>
                  <a:rPr lang="en-US" dirty="0" err="1"/>
                  <a:t>Xm</a:t>
                </a:r>
                <a:r>
                  <a:rPr lang="en-US" dirty="0"/>
                  <a:t> – </a:t>
                </a:r>
                <a:r>
                  <a:rPr lang="en-US" dirty="0" err="1"/>
                  <a:t>reprezinta</a:t>
                </a:r>
                <a:r>
                  <a:rPr lang="en-US" dirty="0"/>
                  <a:t> media </a:t>
                </a:r>
                <a:r>
                  <a:rPr lang="en-US" dirty="0" err="1"/>
                  <a:t>esantioanelor</a:t>
                </a:r>
                <a:endParaRPr lang="en-US" dirty="0"/>
              </a:p>
            </p:txBody>
          </p:sp>
        </mc:Choice>
        <mc:Fallback xmlns="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A1F40E7F-1F35-4A10-8B2F-A0EB07EEA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549" y="3157524"/>
                <a:ext cx="2672179" cy="1477328"/>
              </a:xfrm>
              <a:prstGeom prst="rect">
                <a:avLst/>
              </a:prstGeom>
              <a:blipFill>
                <a:blip r:embed="rId3"/>
                <a:stretch>
                  <a:fillRect l="-1826" t="-2479" r="-2055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tăText 6">
            <a:extLst>
              <a:ext uri="{FF2B5EF4-FFF2-40B4-BE49-F238E27FC236}">
                <a16:creationId xmlns:a16="http://schemas.microsoft.com/office/drawing/2014/main" id="{E29ECB6B-0780-4639-88F3-E37292C0B9F3}"/>
              </a:ext>
            </a:extLst>
          </p:cNvPr>
          <p:cNvSpPr txBox="1"/>
          <p:nvPr/>
        </p:nvSpPr>
        <p:spPr>
          <a:xfrm>
            <a:off x="1674297" y="4876361"/>
            <a:ext cx="3701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 esenta matricea de covarianta poate fi calculata cu formula:</a:t>
            </a:r>
            <a:endParaRPr lang="en-US" dirty="0"/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81C285CF-15F8-49E3-BA23-537DA45EDB5F}"/>
              </a:ext>
            </a:extLst>
          </p:cNvPr>
          <p:cNvSpPr txBox="1"/>
          <p:nvPr/>
        </p:nvSpPr>
        <p:spPr>
          <a:xfrm>
            <a:off x="5637320" y="2974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tăText 8">
                <a:extLst>
                  <a:ext uri="{FF2B5EF4-FFF2-40B4-BE49-F238E27FC236}">
                    <a16:creationId xmlns:a16="http://schemas.microsoft.com/office/drawing/2014/main" id="{7EF761FA-CA9E-4F2D-B429-5524F67CA121}"/>
                  </a:ext>
                </a:extLst>
              </p:cNvPr>
              <p:cNvSpPr txBox="1"/>
              <p:nvPr/>
            </p:nvSpPr>
            <p:spPr>
              <a:xfrm>
                <a:off x="6279549" y="5061026"/>
                <a:ext cx="1914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𝐶𝑂𝑉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dirty="0"/>
                  <a:t> Z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asetăText 8">
                <a:extLst>
                  <a:ext uri="{FF2B5EF4-FFF2-40B4-BE49-F238E27FC236}">
                    <a16:creationId xmlns:a16="http://schemas.microsoft.com/office/drawing/2014/main" id="{7EF761FA-CA9E-4F2D-B429-5524F67CA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549" y="5061026"/>
                <a:ext cx="1914370" cy="276999"/>
              </a:xfrm>
              <a:prstGeom prst="rect">
                <a:avLst/>
              </a:prstGeom>
              <a:blipFill>
                <a:blip r:embed="rId4"/>
                <a:stretch>
                  <a:fillRect l="-4140" t="-28261" r="-1592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905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30854F26-2FB8-405A-A644-C15DC1DD4231}"/>
              </a:ext>
            </a:extLst>
          </p:cNvPr>
          <p:cNvSpPr txBox="1"/>
          <p:nvPr/>
        </p:nvSpPr>
        <p:spPr>
          <a:xfrm>
            <a:off x="1274802" y="583902"/>
            <a:ext cx="6930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/>
              <a:t>Algoritmul</a:t>
            </a:r>
            <a:r>
              <a:rPr lang="en-US" sz="3000" dirty="0"/>
              <a:t> PCA </a:t>
            </a:r>
            <a:r>
              <a:rPr lang="en-US" sz="3000" dirty="0" err="1"/>
              <a:t>structurat</a:t>
            </a:r>
            <a:r>
              <a:rPr lang="en-US" sz="3000" dirty="0"/>
              <a:t> pe </a:t>
            </a:r>
            <a:r>
              <a:rPr lang="en-US" sz="3000" dirty="0" err="1"/>
              <a:t>pasi</a:t>
            </a:r>
            <a:r>
              <a:rPr lang="en-US" sz="3000" dirty="0"/>
              <a:t>:</a:t>
            </a:r>
          </a:p>
          <a:p>
            <a:endParaRPr lang="en-US" sz="3000" dirty="0"/>
          </a:p>
          <a:p>
            <a:endParaRPr lang="en-US" sz="3000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52F91C37-D457-4EB9-B02F-2677CAB00C93}"/>
              </a:ext>
            </a:extLst>
          </p:cNvPr>
          <p:cNvSpPr txBox="1"/>
          <p:nvPr/>
        </p:nvSpPr>
        <p:spPr>
          <a:xfrm>
            <a:off x="1274802" y="1322566"/>
            <a:ext cx="604787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Pasul </a:t>
            </a:r>
            <a:r>
              <a:rPr lang="en-US" sz="2200" b="1" dirty="0" err="1"/>
              <a:t>trei</a:t>
            </a:r>
            <a:r>
              <a:rPr lang="en-US" sz="2200" b="1" dirty="0"/>
              <a:t>: </a:t>
            </a:r>
            <a:r>
              <a:rPr lang="en-US" sz="2200" b="1" dirty="0" err="1"/>
              <a:t>Calculul</a:t>
            </a:r>
            <a:r>
              <a:rPr lang="en-US" sz="2200" b="1" dirty="0"/>
              <a:t> </a:t>
            </a:r>
            <a:r>
              <a:rPr lang="en-US" sz="2200" b="1" dirty="0" err="1"/>
              <a:t>valorilor</a:t>
            </a:r>
            <a:r>
              <a:rPr lang="en-US" sz="2200" b="1" dirty="0"/>
              <a:t> </a:t>
            </a:r>
            <a:r>
              <a:rPr lang="en-US" sz="2200" b="1" dirty="0" err="1"/>
              <a:t>proprii</a:t>
            </a:r>
            <a:r>
              <a:rPr lang="en-US" sz="2200" b="1" dirty="0"/>
              <a:t> </a:t>
            </a:r>
            <a:r>
              <a:rPr lang="en-US" sz="2200" b="1" dirty="0" err="1"/>
              <a:t>și</a:t>
            </a:r>
            <a:r>
              <a:rPr lang="en-US" sz="2200" b="1" dirty="0"/>
              <a:t> </a:t>
            </a:r>
            <a:r>
              <a:rPr lang="en-US" sz="2200" b="1" dirty="0" err="1"/>
              <a:t>vectorilor</a:t>
            </a:r>
            <a:r>
              <a:rPr lang="en-US" sz="2200" b="1" dirty="0"/>
              <a:t> </a:t>
            </a:r>
            <a:r>
              <a:rPr lang="en-US" sz="2200" b="1" dirty="0" err="1"/>
              <a:t>proprii</a:t>
            </a:r>
            <a:r>
              <a:rPr lang="en-US" sz="2200" b="1" dirty="0"/>
              <a:t> ale </a:t>
            </a:r>
            <a:r>
              <a:rPr lang="en-US" sz="2200" b="1" dirty="0" err="1"/>
              <a:t>matricei</a:t>
            </a:r>
            <a:r>
              <a:rPr lang="en-US" sz="2200" b="1" dirty="0"/>
              <a:t> de </a:t>
            </a:r>
            <a:r>
              <a:rPr lang="en-US" sz="2200" b="1" dirty="0" err="1"/>
              <a:t>covarianta</a:t>
            </a:r>
            <a:r>
              <a:rPr lang="en-US" sz="2200" b="1" dirty="0"/>
              <a:t>:</a:t>
            </a:r>
          </a:p>
          <a:p>
            <a:endParaRPr lang="en-US" dirty="0"/>
          </a:p>
          <a:p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măsura</a:t>
            </a:r>
            <a:r>
              <a:rPr lang="en-US" dirty="0"/>
              <a:t> </a:t>
            </a:r>
            <a:r>
              <a:rPr lang="en-US" dirty="0" err="1"/>
              <a:t>variației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direcțiile</a:t>
            </a:r>
            <a:r>
              <a:rPr lang="en-US" dirty="0"/>
              <a:t> </a:t>
            </a:r>
            <a:r>
              <a:rPr lang="en-US" dirty="0" err="1"/>
              <a:t>vectorilor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2200" b="1" dirty="0"/>
              <a:t>Pasul </a:t>
            </a:r>
            <a:r>
              <a:rPr lang="en-US" sz="2200" b="1" dirty="0" err="1"/>
              <a:t>patru</a:t>
            </a:r>
            <a:r>
              <a:rPr lang="en-US" sz="2200" b="1" dirty="0"/>
              <a:t>: </a:t>
            </a:r>
            <a:r>
              <a:rPr lang="en-US" sz="2200" b="1" dirty="0" err="1"/>
              <a:t>Sortarea</a:t>
            </a:r>
            <a:r>
              <a:rPr lang="en-US" sz="2200" b="1" dirty="0"/>
              <a:t> </a:t>
            </a:r>
            <a:r>
              <a:rPr lang="en-US" sz="2200" b="1" dirty="0" err="1"/>
              <a:t>valorilor</a:t>
            </a:r>
            <a:r>
              <a:rPr lang="en-US" sz="2200" b="1" dirty="0"/>
              <a:t> </a:t>
            </a:r>
            <a:r>
              <a:rPr lang="en-US" sz="2200" b="1" dirty="0" err="1"/>
              <a:t>proprii</a:t>
            </a:r>
            <a:r>
              <a:rPr lang="en-US" sz="2200" b="1" dirty="0"/>
              <a:t>:</a:t>
            </a:r>
          </a:p>
          <a:p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sunt </a:t>
            </a:r>
            <a:r>
              <a:rPr lang="en-US" dirty="0" err="1"/>
              <a:t>sortate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ordine</a:t>
            </a:r>
            <a:r>
              <a:rPr lang="en-US" dirty="0"/>
              <a:t> </a:t>
            </a:r>
            <a:r>
              <a:rPr lang="en-US" dirty="0" err="1"/>
              <a:t>descrescătoare</a:t>
            </a:r>
            <a:r>
              <a:rPr lang="en-US" dirty="0"/>
              <a:t>.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indică</a:t>
            </a:r>
            <a:r>
              <a:rPr lang="en-US" dirty="0"/>
              <a:t> </a:t>
            </a:r>
            <a:r>
              <a:rPr lang="en-US" dirty="0" err="1"/>
              <a:t>cantitatea</a:t>
            </a:r>
            <a:r>
              <a:rPr lang="en-US" dirty="0"/>
              <a:t> de </a:t>
            </a:r>
            <a:r>
              <a:rPr lang="en-US" dirty="0" err="1"/>
              <a:t>variație</a:t>
            </a:r>
            <a:r>
              <a:rPr lang="en-US" dirty="0"/>
              <a:t> pe care o </a:t>
            </a:r>
            <a:r>
              <a:rPr lang="en-US" dirty="0" err="1"/>
              <a:t>poartă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componentă</a:t>
            </a:r>
            <a:r>
              <a:rPr lang="en-US" dirty="0"/>
              <a:t> </a:t>
            </a:r>
            <a:r>
              <a:rPr lang="en-US" dirty="0" err="1"/>
              <a:t>principală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⇒ </a:t>
            </a:r>
            <a:r>
              <a:rPr lang="en-US" dirty="0" err="1"/>
              <a:t>vectori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importanți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Acești</a:t>
            </a:r>
            <a:r>
              <a:rPr lang="en-US" dirty="0"/>
              <a:t> </a:t>
            </a:r>
            <a:r>
              <a:rPr lang="en-US" dirty="0" err="1"/>
              <a:t>vectori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parte</a:t>
            </a:r>
            <a:r>
              <a:rPr lang="en-US" dirty="0"/>
              <a:t> a </a:t>
            </a:r>
            <a:r>
              <a:rPr lang="en-US" dirty="0" err="1"/>
              <a:t>informațiilor</a:t>
            </a:r>
            <a:r>
              <a:rPr lang="en-US" dirty="0"/>
              <a:t> utile din </a:t>
            </a:r>
            <a:r>
              <a:rPr lang="en-US" dirty="0" err="1"/>
              <a:t>întregul</a:t>
            </a:r>
            <a:r>
              <a:rPr lang="en-US" dirty="0"/>
              <a:t> set de date </a:t>
            </a:r>
            <a:r>
              <a:rPr lang="en-US" dirty="0" err="1"/>
              <a:t>într</a:t>
            </a:r>
            <a:r>
              <a:rPr lang="en-US" dirty="0"/>
              <a:t>-un </a:t>
            </a:r>
            <a:r>
              <a:rPr lang="en-US" dirty="0" err="1"/>
              <a:t>singur</a:t>
            </a:r>
            <a:r>
              <a:rPr lang="en-US" dirty="0"/>
              <a:t> vector.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080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30854F26-2FB8-405A-A644-C15DC1DD4231}"/>
              </a:ext>
            </a:extLst>
          </p:cNvPr>
          <p:cNvSpPr txBox="1"/>
          <p:nvPr/>
        </p:nvSpPr>
        <p:spPr>
          <a:xfrm>
            <a:off x="1363579" y="956764"/>
            <a:ext cx="6930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/>
              <a:t>Algoritmul</a:t>
            </a:r>
            <a:r>
              <a:rPr lang="en-US" sz="3000" b="1" dirty="0"/>
              <a:t> PCA </a:t>
            </a:r>
            <a:r>
              <a:rPr lang="en-US" sz="3000" b="1" dirty="0" err="1"/>
              <a:t>structurat</a:t>
            </a:r>
            <a:r>
              <a:rPr lang="en-US" sz="3000" b="1" dirty="0"/>
              <a:t> pe </a:t>
            </a:r>
            <a:r>
              <a:rPr lang="en-US" sz="3000" b="1" dirty="0" err="1"/>
              <a:t>pasi</a:t>
            </a:r>
            <a:r>
              <a:rPr lang="en-US" sz="3000" b="1" dirty="0"/>
              <a:t>:</a:t>
            </a:r>
          </a:p>
          <a:p>
            <a:endParaRPr lang="en-US" sz="3000" b="1" dirty="0"/>
          </a:p>
          <a:p>
            <a:endParaRPr lang="en-US" sz="3000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52F91C37-D457-4EB9-B02F-2677CAB00C93}"/>
              </a:ext>
            </a:extLst>
          </p:cNvPr>
          <p:cNvSpPr txBox="1"/>
          <p:nvPr/>
        </p:nvSpPr>
        <p:spPr>
          <a:xfrm>
            <a:off x="1363579" y="1882022"/>
            <a:ext cx="60478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Pasul </a:t>
            </a:r>
            <a:r>
              <a:rPr lang="en-US" sz="2500" b="1" dirty="0" err="1"/>
              <a:t>cinci</a:t>
            </a:r>
            <a:r>
              <a:rPr lang="en-US" sz="2500" b="1" dirty="0"/>
              <a:t>: </a:t>
            </a:r>
            <a:r>
              <a:rPr lang="en-US" sz="2500" b="1" dirty="0" err="1"/>
              <a:t>selectarea</a:t>
            </a:r>
            <a:r>
              <a:rPr lang="en-US" sz="2500" b="1" dirty="0"/>
              <a:t> </a:t>
            </a:r>
            <a:r>
              <a:rPr lang="en-US" sz="2500" b="1" dirty="0" err="1"/>
              <a:t>componentelor</a:t>
            </a:r>
            <a:r>
              <a:rPr lang="en-US" sz="2500" b="1" dirty="0"/>
              <a:t> </a:t>
            </a:r>
            <a:r>
              <a:rPr lang="en-US" sz="2500" b="1" dirty="0" err="1"/>
              <a:t>principale</a:t>
            </a:r>
            <a:endParaRPr lang="en-US" sz="2500" b="1" dirty="0"/>
          </a:p>
          <a:p>
            <a:endParaRPr lang="en-US" dirty="0"/>
          </a:p>
          <a:p>
            <a:r>
              <a:rPr lang="it-IT" dirty="0"/>
              <a:t>Se alege primii vectori proprii corespunzatoare celor mai mari valorii proprii</a:t>
            </a:r>
          </a:p>
          <a:p>
            <a:endParaRPr lang="it-IT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A6CF7CF9-D548-467F-AFC0-35A6D56A6E00}"/>
                  </a:ext>
                </a:extLst>
              </p:cNvPr>
              <p:cNvSpPr txBox="1"/>
              <p:nvPr/>
            </p:nvSpPr>
            <p:spPr>
              <a:xfrm>
                <a:off x="1765836" y="3683253"/>
                <a:ext cx="123546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A6CF7CF9-D548-467F-AFC0-35A6D56A6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836" y="3683253"/>
                <a:ext cx="1235466" cy="298415"/>
              </a:xfrm>
              <a:prstGeom prst="rect">
                <a:avLst/>
              </a:prstGeom>
              <a:blipFill>
                <a:blip r:embed="rId2"/>
                <a:stretch>
                  <a:fillRect l="-4455" r="-3960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tăText 4">
            <a:extLst>
              <a:ext uri="{FF2B5EF4-FFF2-40B4-BE49-F238E27FC236}">
                <a16:creationId xmlns:a16="http://schemas.microsoft.com/office/drawing/2014/main" id="{BA96F21F-108D-4D2A-B9E6-05CA88668363}"/>
              </a:ext>
            </a:extLst>
          </p:cNvPr>
          <p:cNvSpPr txBox="1"/>
          <p:nvPr/>
        </p:nvSpPr>
        <p:spPr>
          <a:xfrm>
            <a:off x="3595456" y="3597715"/>
            <a:ext cx="3231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Xp</a:t>
            </a:r>
            <a:r>
              <a:rPr lang="en-US" dirty="0"/>
              <a:t>– </a:t>
            </a:r>
            <a:r>
              <a:rPr lang="en-US" dirty="0" err="1"/>
              <a:t>matricea</a:t>
            </a:r>
            <a:r>
              <a:rPr lang="en-US" dirty="0"/>
              <a:t> </a:t>
            </a:r>
            <a:r>
              <a:rPr lang="en-US" dirty="0" err="1"/>
              <a:t>finala</a:t>
            </a:r>
            <a:r>
              <a:rPr lang="en-US" dirty="0"/>
              <a:t> pe care o </a:t>
            </a:r>
            <a:r>
              <a:rPr lang="en-US" dirty="0" err="1"/>
              <a:t>proiectam</a:t>
            </a:r>
            <a:r>
              <a:rPr lang="en-US" dirty="0"/>
              <a:t> , </a:t>
            </a:r>
            <a:r>
              <a:rPr lang="en-US" dirty="0" err="1"/>
              <a:t>Xc</a:t>
            </a:r>
            <a:r>
              <a:rPr lang="en-US" dirty="0"/>
              <a:t> – </a:t>
            </a:r>
            <a:r>
              <a:rPr lang="en-US" dirty="0" err="1"/>
              <a:t>matricea</a:t>
            </a:r>
            <a:r>
              <a:rPr lang="en-US" dirty="0"/>
              <a:t> de </a:t>
            </a:r>
            <a:r>
              <a:rPr lang="en-US" dirty="0" err="1"/>
              <a:t>covarianta</a:t>
            </a:r>
            <a:r>
              <a:rPr lang="en-US" dirty="0"/>
              <a:t>, V – </a:t>
            </a:r>
            <a:r>
              <a:rPr lang="en-US" dirty="0" err="1"/>
              <a:t>matricea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vectorii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323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ED5F-6451-4E76-B3CB-B060B077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SVM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A20B2A-64F6-A4BE-87A5-4D38E8AA296E}"/>
                  </a:ext>
                </a:extLst>
              </p:cNvPr>
              <p:cNvSpPr txBox="1"/>
              <p:nvPr/>
            </p:nvSpPr>
            <p:spPr>
              <a:xfrm>
                <a:off x="697584" y="2347274"/>
                <a:ext cx="920998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/>
                  <a:t>Ecuația hiperplanul căutat este de forma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ro-RO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o-RO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o-RO" b="0" i="1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b="0" i="1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ro-RO" b="0" i="1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o-RO" b="0" i="0" dirty="0">
                    <a:solidFill>
                      <a:srgbClr val="374151"/>
                    </a:solidFill>
                    <a:effectLst/>
                    <a:latin typeface="Söhne"/>
                  </a:rPr>
                  <a:t> reprezintă transpusa vectorului ponderat </a:t>
                </a:r>
                <a14:m>
                  <m:oMath xmlns:m="http://schemas.openxmlformats.org/officeDocument/2006/math">
                    <m:r>
                      <a:rPr lang="ro-RO" b="0" i="1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ro-RO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o-RO" b="0" i="1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o-RO" b="0" i="0" dirty="0">
                    <a:solidFill>
                      <a:srgbClr val="374151"/>
                    </a:solidFill>
                    <a:effectLst/>
                    <a:latin typeface="Söhne"/>
                  </a:rPr>
                  <a:t> este vectorul de caracteristici al punctului de date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o-RO" b="0" i="1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o-RO" b="0" i="0" dirty="0">
                    <a:solidFill>
                      <a:srgbClr val="374151"/>
                    </a:solidFill>
                    <a:effectLst/>
                    <a:latin typeface="Söhne"/>
                  </a:rPr>
                  <a:t> este un termen de deplasare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ro-RO" dirty="0">
                  <a:solidFill>
                    <a:srgbClr val="374151"/>
                  </a:solidFill>
                  <a:latin typeface="Söhne"/>
                </a:endParaRPr>
              </a:p>
              <a:p>
                <a:pPr algn="l"/>
                <a:r>
                  <a:rPr lang="ro-RO" dirty="0">
                    <a:solidFill>
                      <a:srgbClr val="374151"/>
                    </a:solidFill>
                    <a:latin typeface="Söhne"/>
                  </a:rPr>
                  <a:t>S</a:t>
                </a:r>
                <a:r>
                  <a:rPr lang="ro-RO" b="0" i="0" dirty="0">
                    <a:solidFill>
                      <a:srgbClr val="374151"/>
                    </a:solidFill>
                    <a:effectLst/>
                    <a:latin typeface="Söhne"/>
                  </a:rPr>
                  <a:t>copul este să găsească </a:t>
                </a:r>
                <a14:m>
                  <m:oMath xmlns:m="http://schemas.openxmlformats.org/officeDocument/2006/math">
                    <m:r>
                      <a:rPr lang="ro-RO" b="0" i="1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o-RO" b="0" i="0" dirty="0">
                    <a:solidFill>
                      <a:srgbClr val="374151"/>
                    </a:solidFill>
                    <a:effectLst/>
                    <a:latin typeface="Söhne"/>
                  </a:rPr>
                  <a:t> și </a:t>
                </a:r>
                <a14:m>
                  <m:oMath xmlns:m="http://schemas.openxmlformats.org/officeDocument/2006/math">
                    <m:r>
                      <a:rPr lang="ro-RO" b="0" i="1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o-RO" b="0" i="0" dirty="0">
                    <a:solidFill>
                      <a:srgbClr val="374151"/>
                    </a:solidFill>
                    <a:effectLst/>
                    <a:latin typeface="Söhne"/>
                  </a:rPr>
                  <a:t> astfel încât toate punctele de antrenare să satisfacă condiția: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b="0" i="1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o-RO" b="0" i="1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o-RO" b="0" i="1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b="0" i="1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ro-RO" b="0" i="1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o-RO" b="0" i="1" smtClean="0">
                                  <a:solidFill>
                                    <a:srgbClr val="37415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b="0" i="1" smtClean="0">
                                  <a:solidFill>
                                    <a:srgbClr val="37415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b="0" i="1" smtClean="0">
                                  <a:solidFill>
                                    <a:srgbClr val="37415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b="0" i="1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o-RO" b="0" i="1" smtClean="0">
                              <a:solidFill>
                                <a:srgbClr val="37415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374151"/>
                          </a:solidFill>
                          <a:effectLst/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b="0" i="0" dirty="0">
                    <a:solidFill>
                      <a:srgbClr val="374151"/>
                    </a:solidFill>
                    <a:effectLst/>
                    <a:latin typeface="KaTeX_Main"/>
                  </a:rPr>
                  <a:t>​</a:t>
                </a:r>
                <a:r>
                  <a:rPr lang="ro-RO" b="0" i="0" dirty="0">
                    <a:solidFill>
                      <a:srgbClr val="374151"/>
                    </a:solidFill>
                    <a:effectLst/>
                    <a:latin typeface="Söhne"/>
                  </a:rPr>
                  <a:t> este eticheta clasei pentru punctul de antrenare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  <a:p>
                <a:pPr algn="l"/>
                <a:endParaRPr lang="en-US" b="0" i="0" dirty="0">
                  <a:solidFill>
                    <a:srgbClr val="374151"/>
                  </a:solidFill>
                  <a:effectLst/>
                  <a:latin typeface="Söhne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A20B2A-64F6-A4BE-87A5-4D38E8AA2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84" y="2347274"/>
                <a:ext cx="9209988" cy="2585323"/>
              </a:xfrm>
              <a:prstGeom prst="rect">
                <a:avLst/>
              </a:prstGeom>
              <a:blipFill>
                <a:blip r:embed="rId2"/>
                <a:stretch>
                  <a:fillRect l="-529" t="-117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59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44CAD-8B6D-E904-8BB5-2130CCB3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SVM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18D0843A-0DDC-1355-9A3B-E24222B8879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557" y="1990959"/>
            <a:ext cx="3809524" cy="37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776C3459-83D4-9E14-9C4E-07B1D9EA645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038" y="1978260"/>
            <a:ext cx="3809524" cy="3758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80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234C-0CD0-3E0A-1897-5C7B80E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8"/>
            <a:ext cx="3200400" cy="3977641"/>
          </a:xfrm>
        </p:spPr>
        <p:txBody>
          <a:bodyPr/>
          <a:lstStyle/>
          <a:p>
            <a:r>
              <a:rPr lang="ro-RO" dirty="0"/>
              <a:t>DATA IN 2D</a:t>
            </a:r>
            <a:br>
              <a:rPr lang="ro-RO" dirty="0"/>
            </a:br>
            <a:endParaRPr lang="ro-RO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21395B-19A9-0A0B-DCF2-3309595C1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4800" y="1158277"/>
            <a:ext cx="6212949" cy="454144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D7357-2790-A15B-09EF-5F624DDC8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58522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05FA3-B91F-22AC-28B7-3655DBC7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Imaginea</a:t>
            </a:r>
            <a:r>
              <a:rPr lang="en-US" sz="2800" dirty="0"/>
              <a:t> </a:t>
            </a:r>
            <a:r>
              <a:rPr lang="en-US" sz="2800" dirty="0" err="1"/>
              <a:t>reconstruit</a:t>
            </a:r>
            <a:r>
              <a:rPr lang="ro-RO" sz="2800" dirty="0"/>
              <a:t>ă folosind 50, 10 și 5 componente principale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D3C3D-A5A7-B7EC-FF86-8C286D0A3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C86486-6FDB-9ED0-96D4-95088BB9A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5902"/>
            <a:ext cx="12192000" cy="304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07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8161-A114-202F-4906-18F41AF02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8"/>
            <a:ext cx="3200400" cy="3770251"/>
          </a:xfrm>
        </p:spPr>
        <p:txBody>
          <a:bodyPr/>
          <a:lstStyle/>
          <a:p>
            <a:r>
              <a:rPr lang="ro-RO" dirty="0"/>
              <a:t>Varianța și varianța cumulativă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516859-D1B3-7200-0D63-6023CCDD4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4391" y="731838"/>
            <a:ext cx="5145293" cy="5257800"/>
          </a:xfrm>
        </p:spPr>
      </p:pic>
    </p:spTree>
    <p:extLst>
      <p:ext uri="{BB962C8B-B14F-4D97-AF65-F5344CB8AC3E}">
        <p14:creationId xmlns:p14="http://schemas.microsoft.com/office/powerpoint/2010/main" val="1402448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98AA-A91D-7D85-3AFB-C7B0B4489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Aplicăm SVM asupra setului de 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E1B6F2-4CBE-9C3B-DD6A-A97F06117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095875" cy="4467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F4ADB4-AF9E-2FF0-71F7-EFFFC91B5536}"/>
              </a:ext>
            </a:extLst>
          </p:cNvPr>
          <p:cNvSpPr txBox="1"/>
          <p:nvPr/>
        </p:nvSpPr>
        <p:spPr>
          <a:xfrm>
            <a:off x="593889" y="3233394"/>
            <a:ext cx="51161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Aplicam SVM asupra setului de date </a:t>
            </a:r>
            <a:r>
              <a:rPr lang="ro-RO" dirty="0" err="1"/>
              <a:t>fară</a:t>
            </a:r>
            <a:r>
              <a:rPr lang="ro-RO" dirty="0"/>
              <a:t> a folosi PCA</a:t>
            </a:r>
          </a:p>
          <a:p>
            <a:endParaRPr lang="ro-RO" dirty="0"/>
          </a:p>
          <a:p>
            <a:r>
              <a:rPr lang="ro-RO" dirty="0"/>
              <a:t>Obținem o acuratețe de 98.78% a modelului</a:t>
            </a:r>
          </a:p>
        </p:txBody>
      </p:sp>
    </p:spTree>
    <p:extLst>
      <p:ext uri="{BB962C8B-B14F-4D97-AF65-F5344CB8AC3E}">
        <p14:creationId xmlns:p14="http://schemas.microsoft.com/office/powerpoint/2010/main" val="2505728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98AA-A91D-7D85-3AFB-C7B0B4489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Aplicăm SVM asupra setului de 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4ADB4-AF9E-2FF0-71F7-EFFFC91B5536}"/>
              </a:ext>
            </a:extLst>
          </p:cNvPr>
          <p:cNvSpPr txBox="1"/>
          <p:nvPr/>
        </p:nvSpPr>
        <p:spPr>
          <a:xfrm>
            <a:off x="593889" y="3233393"/>
            <a:ext cx="4383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Aplicam SVM asupra setului de date folosind PCA </a:t>
            </a:r>
            <a:r>
              <a:rPr lang="ro-RO" dirty="0" err="1"/>
              <a:t>inainte</a:t>
            </a:r>
            <a:r>
              <a:rPr lang="ro-RO" dirty="0"/>
              <a:t> folosind doar primele 2 componente principale</a:t>
            </a:r>
          </a:p>
          <a:p>
            <a:endParaRPr lang="ro-RO" dirty="0"/>
          </a:p>
          <a:p>
            <a:r>
              <a:rPr lang="ro-RO" dirty="0"/>
              <a:t>Obținem o acuratețe de 85.67% a modelului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A5E073-C1A5-D803-BC91-B9E85EDB5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8444"/>
            <a:ext cx="5095875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30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5BB1-F7F7-D643-0EEC-C6BD730F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4358"/>
            <a:ext cx="3200400" cy="3694837"/>
          </a:xfrm>
        </p:spPr>
        <p:txBody>
          <a:bodyPr/>
          <a:lstStyle/>
          <a:p>
            <a:r>
              <a:rPr lang="ro-RO" dirty="0"/>
              <a:t>Clasarea celor doua soiuri de mere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2A54F9-DF77-C075-8EA5-4DAC7FBA6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0500" y="1193800"/>
            <a:ext cx="5553075" cy="4333875"/>
          </a:xfrm>
        </p:spPr>
      </p:pic>
    </p:spTree>
    <p:extLst>
      <p:ext uri="{BB962C8B-B14F-4D97-AF65-F5344CB8AC3E}">
        <p14:creationId xmlns:p14="http://schemas.microsoft.com/office/powerpoint/2010/main" val="2364727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30FE-153A-BBFB-8B08-92AE0F65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Comparare</a:t>
            </a:r>
            <a:r>
              <a:rPr lang="en-US" dirty="0"/>
              <a:t> SVM </a:t>
            </a:r>
            <a:r>
              <a:rPr lang="en-US" dirty="0" err="1"/>
              <a:t>fara</a:t>
            </a:r>
            <a:r>
              <a:rPr lang="en-US" dirty="0"/>
              <a:t> PCA cu SVM cu PCA</a:t>
            </a:r>
            <a:endParaRPr lang="ro-R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AF50B-F79A-BDF2-7E54-7CD60EFDA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Acuratețe</a:t>
            </a:r>
            <a:r>
              <a:rPr lang="en-US" dirty="0"/>
              <a:t>: </a:t>
            </a:r>
            <a:r>
              <a:rPr lang="ro-RO" dirty="0"/>
              <a:t>98.78%</a:t>
            </a:r>
            <a:r>
              <a:rPr lang="en-US" dirty="0"/>
              <a:t> </a:t>
            </a:r>
            <a:endParaRPr lang="ro-RO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6C1C0A1-5095-8514-A671-A37A0C3C8A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39520" y="2582863"/>
            <a:ext cx="3853597" cy="33782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6E537-56EC-ABC8-5176-A3A4A0675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Acuratețe</a:t>
            </a:r>
            <a:r>
              <a:rPr lang="en-US" dirty="0"/>
              <a:t>: </a:t>
            </a:r>
            <a:r>
              <a:rPr lang="ro-RO" dirty="0"/>
              <a:t>85.67%</a:t>
            </a:r>
            <a:r>
              <a:rPr lang="en-US" dirty="0"/>
              <a:t> </a:t>
            </a:r>
            <a:endParaRPr lang="ro-RO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0C2E3A-B1C0-293D-9C0E-DC632AB7E08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60002" y="2582863"/>
            <a:ext cx="3853597" cy="3378200"/>
          </a:xfrm>
        </p:spPr>
      </p:pic>
    </p:spTree>
    <p:extLst>
      <p:ext uri="{BB962C8B-B14F-4D97-AF65-F5344CB8AC3E}">
        <p14:creationId xmlns:p14="http://schemas.microsoft.com/office/powerpoint/2010/main" val="14006618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139</TotalTime>
  <Words>751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KaTeX_Main</vt:lpstr>
      <vt:lpstr>Söhne</vt:lpstr>
      <vt:lpstr>Times New Roman</vt:lpstr>
      <vt:lpstr>Retrospect</vt:lpstr>
      <vt:lpstr>Clasificator Binar cu SVM și Reducere Dimensională cu PCA</vt:lpstr>
      <vt:lpstr>Scopul aplicației</vt:lpstr>
      <vt:lpstr>Construirea vectorilor caracteristici ai imaginilor</vt:lpstr>
      <vt:lpstr>Afisarea unor mere din primul soi </vt:lpstr>
      <vt:lpstr>Afisarea unor mere din al doilea soi </vt:lpstr>
      <vt:lpstr>Algoritmi folosiți:</vt:lpstr>
      <vt:lpstr>PowerPoint Presentation</vt:lpstr>
      <vt:lpstr>PowerPoint Presentation</vt:lpstr>
      <vt:lpstr>PowerPoint Presentation</vt:lpstr>
      <vt:lpstr>PowerPoint Presentation</vt:lpstr>
      <vt:lpstr>SVM</vt:lpstr>
      <vt:lpstr>SVM</vt:lpstr>
      <vt:lpstr>DATA IN 2D </vt:lpstr>
      <vt:lpstr>Imaginea reconstruită folosind 50, 10 și 5 componente principale</vt:lpstr>
      <vt:lpstr>Varianța și varianța cumulativă</vt:lpstr>
      <vt:lpstr>Aplicăm SVM asupra setului de date</vt:lpstr>
      <vt:lpstr>Aplicăm SVM asupra setului de date</vt:lpstr>
      <vt:lpstr>Clasarea celor doua soiuri de mere</vt:lpstr>
      <vt:lpstr>Comparare SVM fara PCA cu SVM cu PCA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Clasificator Binar cu SVM și Reducere Dimensională cu PCA</dc:title>
  <dc:creator>Teddy Teddy</dc:creator>
  <cp:lastModifiedBy>Teddy Teddy</cp:lastModifiedBy>
  <cp:revision>2</cp:revision>
  <dcterms:created xsi:type="dcterms:W3CDTF">2024-01-18T06:31:44Z</dcterms:created>
  <dcterms:modified xsi:type="dcterms:W3CDTF">2024-01-18T08:51:22Z</dcterms:modified>
</cp:coreProperties>
</file>